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952500"/>
            <a:ext cx="5334000" cy="5334000"/>
          </a:xfrm>
          <a:prstGeom prst="ellipse">
            <a:avLst/>
          </a:prstGeom>
          <a:solidFill>
            <a:srgbClr val="FF595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7620000"/>
            <a:ext cx="3619500" cy="3619500"/>
          </a:xfrm>
          <a:prstGeom prst="ellipse">
            <a:avLst/>
          </a:prstGeom>
          <a:solidFill>
            <a:srgbClr val="FF595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042345"/>
            <a:ext cx="2419945" cy="438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09020"/>
            <a:ext cx="2115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VIBE CODING 實戰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562945" y="3109020"/>
            <a:ext cx="2722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 · 財務會計 AI 工具分享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" y="3899595"/>
            <a:ext cx="1143000" cy="76200"/>
          </a:xfrm>
          <a:prstGeom prst="roundRect">
            <a:avLst>
              <a:gd name="adj" fmla="val 37500"/>
            </a:avLst>
          </a:prstGeom>
          <a:solidFill>
            <a:srgbClr val="FF595A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318695"/>
            <a:ext cx="10791825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Voucher</a:t>
            </a:r>
            <a:pPr algn="l" indent="0" marL="0">
              <a:lnSpc>
                <a:spcPct val="110000"/>
              </a:lnSpc>
              <a:buNone/>
            </a:pPr>
            <a:r>
              <a:rPr lang="en-US" sz="7200" b="1" spc="-144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52500" y="5591175"/>
            <a:ext cx="107918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用 AI 打造傳票自動化工具的完整歷程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52500" y="6711255"/>
            <a:ext cx="2927846" cy="533400"/>
          </a:xfrm>
          <a:prstGeom prst="roundRect">
            <a:avLst>
              <a:gd name="adj" fmla="val 17857"/>
            </a:avLst>
          </a:prstGeom>
          <a:solidFill>
            <a:srgbClr val="181820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9350" y="6812855"/>
            <a:ext cx="26219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VSCode + Claude Code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13696" y="6711255"/>
            <a:ext cx="2501801" cy="533400"/>
          </a:xfrm>
          <a:prstGeom prst="roundRect">
            <a:avLst>
              <a:gd name="adj" fmla="val 17857"/>
            </a:avLst>
          </a:prstGeom>
          <a:solidFill>
            <a:srgbClr val="181820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0546" y="6812855"/>
            <a:ext cx="218430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· pywinauto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48847" y="6711255"/>
            <a:ext cx="2790627" cy="533400"/>
          </a:xfrm>
          <a:prstGeom prst="roundRect">
            <a:avLst>
              <a:gd name="adj" fmla="val 17857"/>
            </a:avLst>
          </a:prstGeom>
          <a:solidFill>
            <a:srgbClr val="181820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5697" y="6812855"/>
            <a:ext cx="248064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Excel → ERP 自動入帳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10239375"/>
            <a:ext cx="18288000" cy="47625"/>
          </a:xfrm>
          <a:prstGeom prst="rect">
            <a:avLst/>
          </a:prstGeom>
          <a:solidFill>
            <a:srgbClr val="FF59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953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685800"/>
            <a:ext cx="1974056" cy="476250"/>
          </a:xfrm>
          <a:prstGeom prst="roundRect">
            <a:avLst>
              <a:gd name="adj" fmla="val 50000"/>
            </a:avLst>
          </a:prstGeom>
          <a:ln w="19050">
            <a:solidFill>
              <a:srgbClr val="FF5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8350" y="771525"/>
            <a:ext cx="16311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今天分享的內容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1581150"/>
            <a:ext cx="1687449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三大主題，15 分鐘帶你走一遍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52500" y="2819400"/>
            <a:ext cx="5232400" cy="6858000"/>
          </a:xfrm>
          <a:prstGeom prst="roundRect">
            <a:avLst>
              <a:gd name="adj" fmla="val 3641"/>
            </a:avLst>
          </a:prstGeom>
          <a:solidFill>
            <a:srgbClr val="FF595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38500"/>
            <a:ext cx="460451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333500" y="4133850"/>
            <a:ext cx="4604512" cy="58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工具介紹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4850110"/>
            <a:ext cx="460451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VSCode、GitHub、Claude Code 開發環境搭建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27800" y="2819400"/>
            <a:ext cx="5232400" cy="6858000"/>
          </a:xfrm>
          <a:prstGeom prst="roundRect">
            <a:avLst>
              <a:gd name="adj" fmla="val 3641"/>
            </a:avLst>
          </a:prstGeom>
          <a:solidFill>
            <a:srgbClr val="181820"/>
          </a:solidFill>
          <a:ln/>
        </p:spPr>
      </p:sp>
      <p:sp>
        <p:nvSpPr>
          <p:cNvPr id="11" name="Text 9"/>
          <p:cNvSpPr/>
          <p:nvPr/>
        </p:nvSpPr>
        <p:spPr>
          <a:xfrm>
            <a:off x="6908800" y="3238500"/>
            <a:ext cx="460451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6908800" y="4133850"/>
            <a:ext cx="4604512" cy="112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VoucherAutomate 開發全流程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908800" y="5394921"/>
            <a:ext cx="460451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技術評估 → 自動化腳本 → UI 設計，14 個步驟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03101" y="2819400"/>
            <a:ext cx="5232400" cy="6858000"/>
          </a:xfrm>
          <a:prstGeom prst="roundRect">
            <a:avLst>
              <a:gd name="adj" fmla="val 3641"/>
            </a:avLst>
          </a:prstGeom>
          <a:solidFill>
            <a:srgbClr val="F5F5F8"/>
          </a:solidFill>
          <a:ln w="19050">
            <a:solidFill>
              <a:srgbClr val="E8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03151" y="3257550"/>
            <a:ext cx="456526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E0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12503151" y="4152900"/>
            <a:ext cx="4565269" cy="112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復盤 &amp; 下次想做的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503151" y="5413971"/>
            <a:ext cx="4565269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的限制、學到的經驗、未來方向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477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685800"/>
            <a:ext cx="274701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使用的工具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1885950"/>
            <a:ext cx="8020050" cy="7791450"/>
          </a:xfrm>
          <a:prstGeom prst="roundRect">
            <a:avLst>
              <a:gd name="adj" fmla="val 2445"/>
            </a:avLst>
          </a:prstGeom>
          <a:solidFill>
            <a:srgbClr val="18182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266950"/>
            <a:ext cx="7475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開發環境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33500" y="2857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8575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00250" y="2800350"/>
            <a:ext cx="15315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VSCode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000250" y="3105150"/>
            <a:ext cx="15315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 程式編輯器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33500" y="36576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4292E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36576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000250" y="3600450"/>
            <a:ext cx="19388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000250" y="3905250"/>
            <a:ext cx="19388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版本控制 · 專案管理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4577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44577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000250" y="4400550"/>
            <a:ext cx="486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Code CLI / VSCode Extension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000250" y="4705350"/>
            <a:ext cx="486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程式碼生成助手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315450" y="1885950"/>
            <a:ext cx="8020050" cy="7791450"/>
          </a:xfrm>
          <a:prstGeom prst="roundRect">
            <a:avLst>
              <a:gd name="adj" fmla="val 2445"/>
            </a:avLst>
          </a:prstGeom>
          <a:solidFill>
            <a:srgbClr val="FFF0F0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9150" y="2279650"/>
            <a:ext cx="744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設計 &amp; 生產力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709150" y="28702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9671050" y="28702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75900" y="2813050"/>
            <a:ext cx="1809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Stitch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375900" y="3117850"/>
            <a:ext cx="1809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設計工具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709150" y="3670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0C4CC"/>
          </a:solidFill>
          <a:ln/>
        </p:spPr>
      </p:sp>
      <p:sp>
        <p:nvSpPr>
          <p:cNvPr id="25" name="Text 23"/>
          <p:cNvSpPr/>
          <p:nvPr/>
        </p:nvSpPr>
        <p:spPr>
          <a:xfrm>
            <a:off x="9671050" y="36703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75900" y="3613150"/>
            <a:ext cx="2069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+ Canva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375900" y="3917950"/>
            <a:ext cx="2069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產品圖片生成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709150" y="44704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F595A"/>
          </a:solidFill>
          <a:ln/>
        </p:spPr>
      </p:sp>
      <p:sp>
        <p:nvSpPr>
          <p:cNvPr id="29" name="Text 27"/>
          <p:cNvSpPr/>
          <p:nvPr/>
        </p:nvSpPr>
        <p:spPr>
          <a:xfrm>
            <a:off x="9671050" y="44704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75900" y="4413250"/>
            <a:ext cx="2381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Design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375900" y="4718050"/>
            <a:ext cx="2381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簡報製作（就是現在！）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5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0" y="-1428750"/>
            <a:ext cx="5715000" cy="5715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905750"/>
            <a:ext cx="3810000" cy="3810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710260"/>
            <a:ext cx="2785467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76935"/>
            <a:ext cx="248803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VOUCHERAUTOMATE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3389709"/>
            <a:ext cx="14716125" cy="1615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讀取 Excel 傳票資料 自動輸入到 ERP 系統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52500" y="5462191"/>
            <a:ext cx="2286000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766991"/>
            <a:ext cx="152400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6522641"/>
            <a:ext cx="152400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Excel 傳票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967141"/>
            <a:ext cx="1524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多筆資料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238500" y="6500416"/>
            <a:ext cx="3030934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20617" y="6386116"/>
            <a:ext cx="266700" cy="266700"/>
          </a:xfrm>
          <a:prstGeom prst="ellipse">
            <a:avLst/>
          </a:prstGeom>
          <a:solidFill>
            <a:srgbClr val="FF595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6817" y="6462316"/>
            <a:ext cx="114300" cy="1143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69435" y="5535216"/>
            <a:ext cx="3115370" cy="1968500"/>
          </a:xfrm>
          <a:prstGeom prst="roundRect">
            <a:avLst>
              <a:gd name="adj" fmla="val 774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50435" y="5840016"/>
            <a:ext cx="235337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</a:t>
            </a:r>
            <a:endParaRPr lang="en-US" sz="3900" dirty="0"/>
          </a:p>
        </p:txBody>
      </p:sp>
      <p:sp>
        <p:nvSpPr>
          <p:cNvPr id="16" name="Text 13"/>
          <p:cNvSpPr/>
          <p:nvPr/>
        </p:nvSpPr>
        <p:spPr>
          <a:xfrm>
            <a:off x="6650435" y="6595666"/>
            <a:ext cx="2353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VoucherAutomate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650435" y="6957616"/>
            <a:ext cx="23533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· pywinauto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9384804" y="6500416"/>
            <a:ext cx="3031034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766922" y="6386116"/>
            <a:ext cx="266700" cy="266700"/>
          </a:xfrm>
          <a:prstGeom prst="ellipse">
            <a:avLst/>
          </a:prstGeom>
          <a:solidFill>
            <a:srgbClr val="FF595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122" y="6462316"/>
            <a:ext cx="114300" cy="1143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2415838" y="5462191"/>
            <a:ext cx="2824163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2796838" y="5766991"/>
            <a:ext cx="2062163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🖥</a:t>
            </a:r>
            <a:endParaRPr lang="en-US" sz="3900" dirty="0"/>
          </a:p>
        </p:txBody>
      </p:sp>
      <p:sp>
        <p:nvSpPr>
          <p:cNvPr id="23" name="Text 19"/>
          <p:cNvSpPr/>
          <p:nvPr/>
        </p:nvSpPr>
        <p:spPr>
          <a:xfrm>
            <a:off x="12796838" y="6522641"/>
            <a:ext cx="206216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鼎新 Smart ERP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12796838" y="6967141"/>
            <a:ext cx="2062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自動輸入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22098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技術評估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770256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不用座標點擊，要如何用 Python 操控 Windows 桌面應用程式？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74725" y="2724150"/>
            <a:ext cx="1524000" cy="571500"/>
          </a:xfrm>
          <a:prstGeom prst="rect">
            <a:avLst/>
          </a:prstGeom>
          <a:solidFill>
            <a:srgbClr val="181820"/>
          </a:solidFill>
          <a:ln/>
        </p:spPr>
      </p:sp>
      <p:sp>
        <p:nvSpPr>
          <p:cNvPr id="7" name="Text 5"/>
          <p:cNvSpPr/>
          <p:nvPr/>
        </p:nvSpPr>
        <p:spPr>
          <a:xfrm>
            <a:off x="1165225" y="2857500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等級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498725" y="2724150"/>
            <a:ext cx="1812727" cy="571500"/>
          </a:xfrm>
          <a:prstGeom prst="rect">
            <a:avLst/>
          </a:prstGeom>
          <a:solidFill>
            <a:srgbClr val="181820"/>
          </a:solidFill>
          <a:ln/>
        </p:spPr>
      </p:sp>
      <p:sp>
        <p:nvSpPr>
          <p:cNvPr id="9" name="Text 7"/>
          <p:cNvSpPr/>
          <p:nvPr/>
        </p:nvSpPr>
        <p:spPr>
          <a:xfrm>
            <a:off x="2689225" y="2857500"/>
            <a:ext cx="1507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方法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11452" y="2724150"/>
            <a:ext cx="2341761" cy="571500"/>
          </a:xfrm>
          <a:prstGeom prst="rect">
            <a:avLst/>
          </a:prstGeom>
          <a:solidFill>
            <a:srgbClr val="181820"/>
          </a:solidFill>
          <a:ln/>
        </p:spPr>
      </p:sp>
      <p:sp>
        <p:nvSpPr>
          <p:cNvPr id="11" name="Text 9"/>
          <p:cNvSpPr/>
          <p:nvPr/>
        </p:nvSpPr>
        <p:spPr>
          <a:xfrm>
            <a:off x="4501952" y="2857500"/>
            <a:ext cx="20369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優點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653213" y="2724150"/>
            <a:ext cx="1777504" cy="571500"/>
          </a:xfrm>
          <a:prstGeom prst="rect">
            <a:avLst/>
          </a:prstGeom>
          <a:solidFill>
            <a:srgbClr val="181820"/>
          </a:solidFill>
          <a:ln/>
        </p:spPr>
      </p:sp>
      <p:sp>
        <p:nvSpPr>
          <p:cNvPr id="13" name="Text 11"/>
          <p:cNvSpPr/>
          <p:nvPr/>
        </p:nvSpPr>
        <p:spPr>
          <a:xfrm>
            <a:off x="6843713" y="2857500"/>
            <a:ext cx="1472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限制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74725" y="4168775"/>
            <a:ext cx="15240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65225" y="3419475"/>
            <a:ext cx="1219200" cy="6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Level 1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/ DB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498725" y="4168775"/>
            <a:ext cx="1812727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2689225" y="3419475"/>
            <a:ext cx="1507927" cy="6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直接對接後端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311452" y="4168775"/>
            <a:ext cx="2341761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01952" y="3419475"/>
            <a:ext cx="2036961" cy="6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效能最好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653213" y="4168775"/>
            <a:ext cx="1777504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843713" y="3419475"/>
            <a:ext cx="1472704" cy="6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原廠不開放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74725" y="4175125"/>
            <a:ext cx="1524000" cy="1196975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74725" y="5365750"/>
            <a:ext cx="15240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974725" y="4175125"/>
            <a:ext cx="44450" cy="1196975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25" name="Text 23"/>
          <p:cNvSpPr/>
          <p:nvPr/>
        </p:nvSpPr>
        <p:spPr>
          <a:xfrm>
            <a:off x="1209675" y="4298950"/>
            <a:ext cx="117475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Level 2 ✓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Automation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2498725" y="4175125"/>
            <a:ext cx="1812727" cy="1196975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7" name="Shape 25"/>
          <p:cNvSpPr/>
          <p:nvPr/>
        </p:nvSpPr>
        <p:spPr>
          <a:xfrm>
            <a:off x="2498725" y="5365750"/>
            <a:ext cx="1812727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2689225" y="4298950"/>
            <a:ext cx="150792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控制項 ID 定位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highlight>
                  <a:srgbClr val="FFF0F0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pywinauto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4311452" y="4175125"/>
            <a:ext cx="2341761" cy="1196975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311452" y="5365750"/>
            <a:ext cx="2341761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4501952" y="4298950"/>
            <a:ext cx="203696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準確、視窗移動也可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653213" y="4175125"/>
            <a:ext cx="1777504" cy="1196975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3" name="Shape 31"/>
          <p:cNvSpPr/>
          <p:nvPr/>
        </p:nvSpPr>
        <p:spPr>
          <a:xfrm>
            <a:off x="6653213" y="5365750"/>
            <a:ext cx="1777504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6843713" y="4298950"/>
            <a:ext cx="147270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需 Inspect.exe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65225" y="5495925"/>
            <a:ext cx="1219200" cy="6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Level 3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座標+OCR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2689225" y="5495925"/>
            <a:ext cx="1507927" cy="6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截圖辨識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501952" y="5495925"/>
            <a:ext cx="2036961" cy="6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通用性最強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843713" y="5495925"/>
            <a:ext cx="1472704" cy="6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非常脆弱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52500" y="6442075"/>
            <a:ext cx="7478217" cy="673100"/>
          </a:xfrm>
          <a:prstGeom prst="roundRect">
            <a:avLst>
              <a:gd name="adj" fmla="val 14151"/>
            </a:avLst>
          </a:prstGeom>
          <a:solidFill>
            <a:srgbClr val="FFF0F0"/>
          </a:solidFill>
          <a:ln/>
        </p:spPr>
      </p:sp>
      <p:sp>
        <p:nvSpPr>
          <p:cNvPr id="40" name="Shape 38"/>
          <p:cNvSpPr/>
          <p:nvPr/>
        </p:nvSpPr>
        <p:spPr>
          <a:xfrm>
            <a:off x="952500" y="6442075"/>
            <a:ext cx="44450" cy="6731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41" name="Text 39"/>
          <p:cNvSpPr/>
          <p:nvPr/>
        </p:nvSpPr>
        <p:spPr>
          <a:xfrm>
            <a:off x="1225550" y="6613525"/>
            <a:ext cx="718586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結論：選擇 Level 2，使用 </a:t>
            </a:r>
            <a:pPr algn="l" indent="0" marL="0">
              <a:buNone/>
            </a:pPr>
            <a:r>
              <a:rPr lang="en-US" sz="180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pywinauto </a:t>
            </a:r>
            <a:pPr algn="l" indent="0" marL="0"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套件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735517" y="1733550"/>
            <a:ext cx="8599884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43" name="Shape 41"/>
          <p:cNvSpPr/>
          <p:nvPr/>
        </p:nvSpPr>
        <p:spPr>
          <a:xfrm>
            <a:off x="9078417" y="2038350"/>
            <a:ext cx="7914084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44" name="Text 42"/>
          <p:cNvSpPr/>
          <p:nvPr/>
        </p:nvSpPr>
        <p:spPr>
          <a:xfrm>
            <a:off x="9211767" y="2066925"/>
            <a:ext cx="78848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078417" y="2508250"/>
            <a:ext cx="8151507" cy="1829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我想用 python 操控電腦與鍵盤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操作鼎新的 Smart ERP 的會計系統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(Windows 桌面應用程式)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如果我不想靠點擊座標的方式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還有什麼方法可以讓我去點擊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以及輸入文字嗎？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38458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統一欄位中英文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168744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有助於 Excel 欄位名稱轉換成程式碼使用的英文，也讓提示詞更清晰，AI 更容易理解需求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400300"/>
            <a:ext cx="3990975" cy="739080"/>
          </a:xfrm>
          <a:prstGeom prst="roundRect">
            <a:avLst>
              <a:gd name="adj" fmla="val 12888"/>
            </a:avLst>
          </a:prstGeom>
          <a:solidFill>
            <a:srgbClr val="F5F5F8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400300"/>
            <a:ext cx="38100" cy="73908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533650"/>
            <a:ext cx="369160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傳票單別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57775" y="2400300"/>
            <a:ext cx="3990975" cy="739080"/>
          </a:xfrm>
          <a:prstGeom prst="roundRect">
            <a:avLst>
              <a:gd name="adj" fmla="val 12888"/>
            </a:avLst>
          </a:prstGeom>
          <a:solidFill>
            <a:srgbClr val="181820"/>
          </a:solidFill>
          <a:ln/>
        </p:spPr>
      </p:sp>
      <p:sp>
        <p:nvSpPr>
          <p:cNvPr id="10" name="Text 8"/>
          <p:cNvSpPr/>
          <p:nvPr/>
        </p:nvSpPr>
        <p:spPr>
          <a:xfrm>
            <a:off x="5248275" y="2533650"/>
            <a:ext cx="372970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voucher_type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253680"/>
            <a:ext cx="3990975" cy="739080"/>
          </a:xfrm>
          <a:prstGeom prst="roundRect">
            <a:avLst>
              <a:gd name="adj" fmla="val 12888"/>
            </a:avLst>
          </a:prstGeom>
          <a:solidFill>
            <a:srgbClr val="F5F5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3253680"/>
            <a:ext cx="38100" cy="73908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387030"/>
            <a:ext cx="369160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傳票日期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57775" y="3253680"/>
            <a:ext cx="3990975" cy="739080"/>
          </a:xfrm>
          <a:prstGeom prst="roundRect">
            <a:avLst>
              <a:gd name="adj" fmla="val 12888"/>
            </a:avLst>
          </a:prstGeom>
          <a:solidFill>
            <a:srgbClr val="181820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275" y="3387030"/>
            <a:ext cx="372970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voucher_date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410706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F5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107061"/>
            <a:ext cx="38100" cy="73918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240411"/>
            <a:ext cx="36916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備註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57775" y="410706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181820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275" y="4240411"/>
            <a:ext cx="37297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voucher_remark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496054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F5F5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4960541"/>
            <a:ext cx="38100" cy="73918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5093891"/>
            <a:ext cx="36916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明細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57775" y="496054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18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275" y="5093891"/>
            <a:ext cx="37297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581402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F5F5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5814021"/>
            <a:ext cx="38100" cy="73918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5947371"/>
            <a:ext cx="36916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借 / 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57775" y="5814021"/>
            <a:ext cx="3990975" cy="739180"/>
          </a:xfrm>
          <a:prstGeom prst="roundRect">
            <a:avLst>
              <a:gd name="adj" fmla="val 12886"/>
            </a:avLst>
          </a:prstGeom>
          <a:solidFill>
            <a:srgbClr val="181820"/>
          </a:solidFill>
          <a:ln/>
        </p:spPr>
      </p:sp>
      <p:sp>
        <p:nvSpPr>
          <p:cNvPr id="30" name="Text 28"/>
          <p:cNvSpPr/>
          <p:nvPr/>
        </p:nvSpPr>
        <p:spPr>
          <a:xfrm>
            <a:off x="5248275" y="5947371"/>
            <a:ext cx="3729704" cy="51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debit_credit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39250" y="24003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9250" y="24003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33" name="Text 31"/>
          <p:cNvSpPr/>
          <p:nvPr/>
        </p:nvSpPr>
        <p:spPr>
          <a:xfrm>
            <a:off x="9467850" y="25336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科目編號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344525" y="24003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35" name="Text 33"/>
          <p:cNvSpPr/>
          <p:nvPr/>
        </p:nvSpPr>
        <p:spPr>
          <a:xfrm>
            <a:off x="13535025" y="25336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account_code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239250" y="31115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37" name="Shape 35"/>
          <p:cNvSpPr/>
          <p:nvPr/>
        </p:nvSpPr>
        <p:spPr>
          <a:xfrm>
            <a:off x="9239250" y="31115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38" name="Text 36"/>
          <p:cNvSpPr/>
          <p:nvPr/>
        </p:nvSpPr>
        <p:spPr>
          <a:xfrm>
            <a:off x="9467850" y="32448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摘要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344525" y="31115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40" name="Text 38"/>
          <p:cNvSpPr/>
          <p:nvPr/>
        </p:nvSpPr>
        <p:spPr>
          <a:xfrm>
            <a:off x="13535025" y="32448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239250" y="38227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9250" y="38227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43" name="Text 41"/>
          <p:cNvSpPr/>
          <p:nvPr/>
        </p:nvSpPr>
        <p:spPr>
          <a:xfrm>
            <a:off x="9467850" y="39560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部門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344525" y="38227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45" name="Text 43"/>
          <p:cNvSpPr/>
          <p:nvPr/>
        </p:nvSpPr>
        <p:spPr>
          <a:xfrm>
            <a:off x="13535025" y="39560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dept_code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239250" y="45339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47" name="Shape 45"/>
          <p:cNvSpPr/>
          <p:nvPr/>
        </p:nvSpPr>
        <p:spPr>
          <a:xfrm>
            <a:off x="9239250" y="45339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48" name="Text 46"/>
          <p:cNvSpPr/>
          <p:nvPr/>
        </p:nvSpPr>
        <p:spPr>
          <a:xfrm>
            <a:off x="9467850" y="46672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金額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344525" y="45339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50" name="Text 48"/>
          <p:cNvSpPr/>
          <p:nvPr/>
        </p:nvSpPr>
        <p:spPr>
          <a:xfrm>
            <a:off x="13535025" y="46672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239250" y="52451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52" name="Shape 50"/>
          <p:cNvSpPr/>
          <p:nvPr/>
        </p:nvSpPr>
        <p:spPr>
          <a:xfrm>
            <a:off x="9239250" y="52451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53" name="Text 51"/>
          <p:cNvSpPr/>
          <p:nvPr/>
        </p:nvSpPr>
        <p:spPr>
          <a:xfrm>
            <a:off x="9467850" y="53784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專案代號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3344525" y="52451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55" name="Text 53"/>
          <p:cNvSpPr/>
          <p:nvPr/>
        </p:nvSpPr>
        <p:spPr>
          <a:xfrm>
            <a:off x="13535025" y="53784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project_code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239250" y="59563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F5F5F8"/>
          </a:solidFill>
          <a:ln/>
        </p:spPr>
      </p:sp>
      <p:sp>
        <p:nvSpPr>
          <p:cNvPr id="57" name="Shape 55"/>
          <p:cNvSpPr/>
          <p:nvPr/>
        </p:nvSpPr>
        <p:spPr>
          <a:xfrm>
            <a:off x="9239250" y="5956300"/>
            <a:ext cx="38100" cy="59690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58" name="Text 56"/>
          <p:cNvSpPr/>
          <p:nvPr/>
        </p:nvSpPr>
        <p:spPr>
          <a:xfrm>
            <a:off x="9467850" y="6089650"/>
            <a:ext cx="36916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備註_明細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344525" y="5956300"/>
            <a:ext cx="3990975" cy="596900"/>
          </a:xfrm>
          <a:prstGeom prst="roundRect">
            <a:avLst>
              <a:gd name="adj" fmla="val 15957"/>
            </a:avLst>
          </a:prstGeom>
          <a:solidFill>
            <a:srgbClr val="181820"/>
          </a:solidFill>
          <a:ln/>
        </p:spPr>
      </p:sp>
      <p:sp>
        <p:nvSpPr>
          <p:cNvPr id="60" name="Text 58"/>
          <p:cNvSpPr/>
          <p:nvPr/>
        </p:nvSpPr>
        <p:spPr>
          <a:xfrm>
            <a:off x="13535025" y="6089650"/>
            <a:ext cx="372970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line_note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486500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建立 CLAUDE.md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826065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CLAUDE.md 是這個專案的工作準則，AI 每次執行任務前都會先讀這個檔案，再開始做任務。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777331"/>
            <a:ext cx="8020050" cy="6900069"/>
          </a:xfrm>
          <a:prstGeom prst="roundRect">
            <a:avLst>
              <a:gd name="adj" fmla="val 1933"/>
            </a:avLst>
          </a:prstGeom>
          <a:solidFill>
            <a:srgbClr val="18182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044031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CLAUDE.md 的作用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57300" y="3520281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52028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57350" y="3501231"/>
            <a:ext cx="3767328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記錄專案背景、目標、重要注意事項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4019352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01935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57350" y="4000302"/>
            <a:ext cx="4892498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發現重要規則就更新 → AI 下次不再犯同樣的錯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57300" y="4518422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451842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57350" y="4499372"/>
            <a:ext cx="4598074" cy="410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使用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595A">
                    <a:alpha val="85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/init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指令建立，AI 自動生成初始內容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15450" y="1733550"/>
            <a:ext cx="80200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58350" y="20383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9791700" y="20669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658350" y="2508250"/>
            <a:ext cx="7554278" cy="242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 我想用 python 的 pywinauto 套件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來操控電腦與鍵盤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我想讀取 Excel 傳票資料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操作電腦與鍵盤將傳票資料輸入到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鼎新的 Smart ERP 的會計系統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(Windows 桌面應用程式)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並且不能用座標的方式去點擊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螢幕上的按鈕或是輸入文字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714222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抓取視窗，點選新增傳票按鈕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826065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讓程式先抓到 ERP 視窗，並讓這個視窗在焦點上，避免鍵盤操作跑到其他視窗。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777331"/>
            <a:ext cx="8020050" cy="1780381"/>
          </a:xfrm>
          <a:prstGeom prst="roundRect">
            <a:avLst>
              <a:gd name="adj" fmla="val 7490"/>
            </a:avLst>
          </a:prstGeom>
          <a:solidFill>
            <a:srgbClr val="FFF0F0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0000" y="3056731"/>
            <a:ext cx="76066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做法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70000" y="3494881"/>
            <a:ext cx="7606602" cy="821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截圖整個 ERP 視窗與新增傳票按鈕，貼入提示詞，讓 AI 生成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59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toolbar_btn.py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748213"/>
            <a:ext cx="8020050" cy="2040136"/>
          </a:xfrm>
          <a:prstGeom prst="roundRect">
            <a:avLst>
              <a:gd name="adj" fmla="val 6536"/>
            </a:avLst>
          </a:prstGeom>
          <a:solidFill>
            <a:srgbClr val="181820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5014913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生成的程式碼邏輯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57300" y="5453063"/>
            <a:ext cx="7632763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app.window()</a:t>
            </a:r>
            <a:endParaRPr lang="en-US" sz="16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.set_focus()</a:t>
            </a:r>
            <a:endParaRPr lang="en-US" sz="16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.click_button("新增傳票")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315450" y="1733550"/>
            <a:ext cx="80200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58350" y="20383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9791700" y="20669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658350" y="2508250"/>
            <a:ext cx="7554278" cy="1232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[ERP 的圖片][新增傳票按鈕圖片]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幫我使用 pywinauto 套件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去抓取會計傳票建立作業的視窗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並點擊左上角新增傳票按鈕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103900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使用 pywinauto 套件（單頭 head.py）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750961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先將一次要做的功能切小塊，單頭跟單身分開做，方便 debug。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758281"/>
            <a:ext cx="7290892" cy="1981200"/>
          </a:xfrm>
          <a:prstGeom prst="roundRect">
            <a:avLst>
              <a:gd name="adj" fmla="val 5769"/>
            </a:avLst>
          </a:prstGeom>
          <a:solidFill>
            <a:srgbClr val="F5F5F8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986881"/>
            <a:ext cx="69602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傳入參數（3 個）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" y="3412331"/>
            <a:ext cx="334566" cy="292100"/>
          </a:xfrm>
          <a:prstGeom prst="roundRect">
            <a:avLst>
              <a:gd name="adj" fmla="val 19565"/>
            </a:avLst>
          </a:prstGeom>
          <a:solidFill>
            <a:srgbClr val="FF595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450431"/>
            <a:ext cx="18216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68066" y="3440906"/>
            <a:ext cx="158521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03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voucher_type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291384" y="3405981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傳票單別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19200" y="3812381"/>
            <a:ext cx="334566" cy="292100"/>
          </a:xfrm>
          <a:prstGeom prst="roundRect">
            <a:avLst>
              <a:gd name="adj" fmla="val 19565"/>
            </a:avLst>
          </a:prstGeom>
          <a:solidFill>
            <a:srgbClr val="FF595A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850481"/>
            <a:ext cx="18216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68066" y="3840956"/>
            <a:ext cx="158521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03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voucher_date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91384" y="3806031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傳票日期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19200" y="4212431"/>
            <a:ext cx="334566" cy="292100"/>
          </a:xfrm>
          <a:prstGeom prst="roundRect">
            <a:avLst>
              <a:gd name="adj" fmla="val 19565"/>
            </a:avLst>
          </a:prstGeom>
          <a:solidFill>
            <a:srgbClr val="FF595A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4250531"/>
            <a:ext cx="18216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68066" y="4241006"/>
            <a:ext cx="18367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03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voucher_remark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542903" y="4206081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傳票摘要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4910932"/>
            <a:ext cx="7290892" cy="1127720"/>
          </a:xfrm>
          <a:prstGeom prst="roundRect">
            <a:avLst>
              <a:gd name="adj" fmla="val 10135"/>
            </a:avLst>
          </a:prstGeom>
          <a:solidFill>
            <a:srgbClr val="18182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5101432"/>
            <a:ext cx="7038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執行中有任何錯誤訊息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81100" y="5482432"/>
            <a:ext cx="7038702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直接貼給 Claude → 他幫你修改 → 重新執行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86292" y="1733550"/>
            <a:ext cx="874911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24" name="Shape 22"/>
          <p:cNvSpPr/>
          <p:nvPr/>
        </p:nvSpPr>
        <p:spPr>
          <a:xfrm>
            <a:off x="8929192" y="2038350"/>
            <a:ext cx="806331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25" name="Text 23"/>
          <p:cNvSpPr/>
          <p:nvPr/>
        </p:nvSpPr>
        <p:spPr>
          <a:xfrm>
            <a:off x="9062542" y="2066925"/>
            <a:ext cx="803850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8929192" y="2508250"/>
            <a:ext cx="8305209" cy="405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[ERP 的單頭圖片]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幫我寫一個 head.py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讓使用者可以傳入三個參數：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傳票單別(voucher_type)、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傳票日期(voucher_date)、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傳票摘要(voucher_remark)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並使用 pywinauto 套件操作 ERP 畫面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以下是我的操作動作：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鍵盤輸入傳票單別(voucher_type，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範例：9101)，並按下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鍵盤輸入傳票日期(voucher_date，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範例：20260420)，並按下 Enter 兩次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鍵盤輸入傳票摘要(voucher_remark，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範例：測試，但也可能是空值，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則不需要有動作)，並按下 Enter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10307522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使用 pywinauto 套件（單身 body.py）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365262" y="923925"/>
            <a:ext cx="40893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每步驟都設有 sleep 變數，可個別調整速度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2500" y="1657350"/>
            <a:ext cx="8077200" cy="8020050"/>
          </a:xfrm>
          <a:prstGeom prst="roundRect">
            <a:avLst>
              <a:gd name="adj" fmla="val 1663"/>
            </a:avLst>
          </a:prstGeom>
          <a:solidFill>
            <a:srgbClr val="1E1E2E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" y="1962150"/>
            <a:ext cx="739140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1990725"/>
            <a:ext cx="734644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提示詞（上半）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95400" y="2432050"/>
            <a:ext cx="7613142" cy="5307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[ERP 的單身圖片]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幫我寫一個 body.py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讓使用者可以傳入七個參數：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借貸(debit_credit)、科目編號(account_code)、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摘要(description)、部門(dept_code)、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金額(amount)、專案代號(project_code)、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備註(line_note)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使用 pywinauto 套件操作 ERP 畫面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增加 log 功能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程式執行的步驟都要 log 顯示在 terminal 上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格式：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2026-04-18 00:25:41 - INFO -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[第2張傳票/第3筆明細] 部門 - 輸入值: 000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以下是操作動作：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借貸(debit_credit，1代表借，2代表貸)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鍵盤輸入數字 -&gt; Enter -&gt; sleep(debit_credit_sleep=1)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科目編號(account_code)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鍵盤輸入數字 -&gt; Enter -&gt; sleep(account_code_sleep=1)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258300" y="1657350"/>
            <a:ext cx="8077200" cy="8020050"/>
          </a:xfrm>
          <a:prstGeom prst="roundRect">
            <a:avLst>
              <a:gd name="adj" fmla="val 1663"/>
            </a:avLst>
          </a:prstGeom>
          <a:solidFill>
            <a:srgbClr val="1E1E2E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0" y="1962150"/>
            <a:ext cx="739140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9734550" y="1990725"/>
            <a:ext cx="734644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提示詞（下半）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601200" y="2432050"/>
            <a:ext cx="7613142" cy="555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摘要(description)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若值是空字串，直接按下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 1秒(description_sleep=1)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否則輸入文字 -&gt; Enter -&gt; sleep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部門(dept_code)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鍵盤輸入數字 -&gt;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sleep(dept_code_sleep=1)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金額(amount)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鍵盤輸入數字 -&gt;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sleep(amount_sleep=1)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專案代號(project_code)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若值是空字串，直接按下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sleep(project_code_sleep=1)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否則輸入文字 -&gt; Enter -&gt; sleep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備註(line_note)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若值是空字串，直接按下 Enter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sleep(line_note_sleep=1)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否則輸入文字 -&gt; Enter -&gt; sleep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7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423374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讀取 Excel 資料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733550"/>
            <a:ext cx="80581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038350"/>
            <a:ext cx="73723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066925"/>
            <a:ext cx="73268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1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95400" y="2508250"/>
            <a:ext cx="7593521" cy="355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寫一個 read_excel.py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幫我讀取 AHT152-2.xlsx 裡面的資料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並且欄位名稱中英文對應如下：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傳票單別 → voucher_type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傳票日期 → voucher_date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備註     → voucher_remark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明細     → lines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借/貸    → debit_credit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科目編號  → account_code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摘要     → description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部門     → dept_code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金額     → amount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專案代號  → project_code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備註_明細 → line_note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277350" y="1733550"/>
            <a:ext cx="8058150" cy="1581349"/>
          </a:xfrm>
          <a:prstGeom prst="roundRect">
            <a:avLst>
              <a:gd name="adj" fmla="val 8433"/>
            </a:avLst>
          </a:prstGeom>
          <a:solidFill>
            <a:srgbClr val="1E1E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20250" y="2038350"/>
            <a:ext cx="1259384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2066925"/>
            <a:ext cx="1068884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2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620250" y="2508250"/>
            <a:ext cx="7593521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幫我將 debit_credit，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如果值是 -1 請幫我改成 2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9277350" y="3505399"/>
            <a:ext cx="8058150" cy="6172002"/>
          </a:xfrm>
          <a:prstGeom prst="roundRect">
            <a:avLst>
              <a:gd name="adj" fmla="val 2161"/>
            </a:avLst>
          </a:prstGeom>
          <a:solidFill>
            <a:srgbClr val="1E1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20250" y="3810199"/>
            <a:ext cx="1259384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838774"/>
            <a:ext cx="1068884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3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620250" y="4280099"/>
            <a:ext cx="7593521" cy="1794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幫我做以下修改：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傳票日期的格式改成 '20260408'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只要值是 None 都改成 '' 空字串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去除 key 是單號、序號、沖帳單別、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科目名稱、立沖帳目、立沖帳目名稱、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部門名稱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8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610545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Bug Fixing 與效能調整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733550"/>
            <a:ext cx="80581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038350"/>
            <a:ext cx="73723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066925"/>
            <a:ext cx="73268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1（Claude Chat · Opus 模型）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95400" y="2508250"/>
            <a:ext cx="7593521" cy="3300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我寫一個 python 程序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功能主要是讀取 Excel 資料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 pywinauto 去抓取鼎新 SmartERP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會計系統 Window 桌面版應用程式的元件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將資料填到表格上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填寫每個欄位我都視為一個步驟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步驟跟步驟間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如果 sleep 不夠久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會有資料填錯的問題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但 sleep 太久，總執行時間過長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究竟是什麼情況會導致這情況？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可以幫我讓執行時間變快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且不會出錯嗎？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277350" y="1733550"/>
            <a:ext cx="8058150" cy="2133600"/>
          </a:xfrm>
          <a:prstGeom prst="roundRect">
            <a:avLst>
              <a:gd name="adj" fmla="val 6250"/>
            </a:avLst>
          </a:prstGeom>
          <a:solidFill>
            <a:srgbClr val="F5F5F8"/>
          </a:solidFill>
          <a:ln/>
        </p:spPr>
      </p:sp>
      <p:sp>
        <p:nvSpPr>
          <p:cNvPr id="10" name="Text 8"/>
          <p:cNvSpPr/>
          <p:nvPr/>
        </p:nvSpPr>
        <p:spPr>
          <a:xfrm>
            <a:off x="9544050" y="1962150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流程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544050" y="2381250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5950" y="23812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25050" y="2381250"/>
            <a:ext cx="51943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 Claude Chat 用 Opus 模型提問，取得詳細分析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44050" y="2838450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15" name="Text 13"/>
          <p:cNvSpPr/>
          <p:nvPr/>
        </p:nvSpPr>
        <p:spPr>
          <a:xfrm>
            <a:off x="9505950" y="28384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25050" y="2838450"/>
            <a:ext cx="34085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將 AI 回答存入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59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input_error.md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44050" y="3295650"/>
            <a:ext cx="266700" cy="266700"/>
          </a:xfrm>
          <a:prstGeom prst="ellipse">
            <a:avLst/>
          </a:prstGeom>
          <a:solidFill>
            <a:srgbClr val="FF595A"/>
          </a:solidFill>
          <a:ln/>
        </p:spPr>
      </p:sp>
      <p:sp>
        <p:nvSpPr>
          <p:cNvPr id="18" name="Text 16"/>
          <p:cNvSpPr/>
          <p:nvPr/>
        </p:nvSpPr>
        <p:spPr>
          <a:xfrm>
            <a:off x="9505950" y="3295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25050" y="3295650"/>
            <a:ext cx="5116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回到 Claude Code，用提示詞 2 讓 AI 修改程式碼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77350" y="4057650"/>
            <a:ext cx="8058150" cy="5619750"/>
          </a:xfrm>
          <a:prstGeom prst="roundRect">
            <a:avLst>
              <a:gd name="adj" fmla="val 2373"/>
            </a:avLst>
          </a:prstGeom>
          <a:solidFill>
            <a:srgbClr val="1E1E2E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0250" y="4362450"/>
            <a:ext cx="376297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9753600" y="4391025"/>
            <a:ext cx="360915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2（Claude Code · Opus 模型）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620250" y="4832350"/>
            <a:ext cx="7593521" cy="1292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@input_error.md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請你幫我照著這些建議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幫我修改我的程式碼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讓執行總時間縮短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且不會有資料填錯的問題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174750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8699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9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17750" y="685800"/>
            <a:ext cx="604372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的 UI 套件選擇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826065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詢問 AI 哪個 Python UI 套件最美觀，根據 AI 推薦的套件，看各套件做出來的 UI 風格是否喜歡，選擇適合的。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777331"/>
            <a:ext cx="8020050" cy="609600"/>
          </a:xfrm>
          <a:prstGeom prst="roundRect">
            <a:avLst>
              <a:gd name="adj" fmla="val 15625"/>
            </a:avLst>
          </a:prstGeom>
          <a:solidFill>
            <a:srgbClr val="F5F5F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48781"/>
            <a:ext cx="7748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Tkinter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75048" y="2929731"/>
            <a:ext cx="18108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內建，但較老舊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52500" y="3520281"/>
            <a:ext cx="8020050" cy="609600"/>
          </a:xfrm>
          <a:prstGeom prst="roundRect">
            <a:avLst>
              <a:gd name="adj" fmla="val 15625"/>
            </a:avLst>
          </a:prstGeom>
          <a:solidFill>
            <a:srgbClr val="F5F5F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91731"/>
            <a:ext cx="7114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PyQt5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11648" y="3672681"/>
            <a:ext cx="22299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功能強，授權較複雜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4263231"/>
            <a:ext cx="8020050" cy="628650"/>
          </a:xfrm>
          <a:prstGeom prst="roundRect">
            <a:avLst>
              <a:gd name="adj" fmla="val 15152"/>
            </a:avLst>
          </a:prstGeom>
          <a:solidFill>
            <a:srgbClr val="FF595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15631"/>
            <a:ext cx="13270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PySide6 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7201" y="4425156"/>
            <a:ext cx="28658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現代、美觀、官方授權寬鬆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52500" y="5025232"/>
            <a:ext cx="8020050" cy="609600"/>
          </a:xfrm>
          <a:prstGeom prst="roundRect">
            <a:avLst>
              <a:gd name="adj" fmla="val 15625"/>
            </a:avLst>
          </a:prstGeom>
          <a:solidFill>
            <a:srgbClr val="F5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96682"/>
            <a:ext cx="1067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wxPython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67446" y="5177632"/>
            <a:ext cx="11821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原生風格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315450" y="1733550"/>
            <a:ext cx="80200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8350" y="20383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20669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658350" y="2508250"/>
            <a:ext cx="7554278" cy="93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的 UI 套件有哪些？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哪些 UI 比較美觀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比較符合現代 UI UX 原則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303933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9991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46933" y="685800"/>
            <a:ext cx="7687642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的設計（Google Stitch）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733550"/>
            <a:ext cx="80581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038350"/>
            <a:ext cx="73723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066925"/>
            <a:ext cx="73268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1（設計 UI）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95400" y="2508250"/>
            <a:ext cx="7593521" cy="380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我想使用 python 的 PySide6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設計一個 Window 桌面應用程式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要有兩個頁面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自動化頁面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畫面可以選擇 Excel 檔案，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並且可以清除選擇檔案的按鈕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有執行按鈕，也有中斷執行的按鈕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下面有一個大文字框，可以即時看 log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設定頁面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選擇 Log 層級(DEBUG、INFO)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以及每個步驟的 sleep 時間設定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幫我設計符合現代 UI/UX 原則的 UI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277350" y="1733550"/>
            <a:ext cx="80581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20250" y="2038350"/>
            <a:ext cx="73723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2066925"/>
            <a:ext cx="73268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 2（修改 UI）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620250" y="2508250"/>
            <a:ext cx="7593521" cy="2798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左邊分頁，只留下 Processor，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其他全部去除，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並在最下面有一個 Settings 按鈕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右上角 3 個按鈕都去除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Execution 區塊，請把 Pause 按鈕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去除，Terminate 改成 Stop，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並且 Execute Job 改成 Execute，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然後 Execute 跟 Stop 請並排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將 Input Configuration 跟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Execution 區域高度縮減，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讓下面顯示 log 的區塊高度增加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292324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98752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35324" y="685800"/>
            <a:ext cx="514829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settings.py 設定檔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750961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將想設定的變數獨立到 settings.py，是良好的軟體工程習慣。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331641"/>
            <a:ext cx="7290892" cy="2025650"/>
          </a:xfrm>
          <a:prstGeom prst="roundRect">
            <a:avLst>
              <a:gd name="adj" fmla="val 5643"/>
            </a:avLst>
          </a:prstGeom>
          <a:solidFill>
            <a:srgbClr val="FFF0F0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1900" y="2572941"/>
            <a:ext cx="6934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好處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31900" y="2992041"/>
            <a:ext cx="69340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設定頁面直接讀 settings.py，不需在 UI 提示詞裡重複說明要設定哪些變數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1900" y="3773091"/>
            <a:ext cx="69340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方便日後調整，不需修改主程式碼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528741"/>
            <a:ext cx="7290892" cy="3371850"/>
          </a:xfrm>
          <a:prstGeom prst="roundRect">
            <a:avLst>
              <a:gd name="adj" fmla="val 339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4757341"/>
            <a:ext cx="6960216" cy="295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8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settings.py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"INFO"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debit_credit_sleep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account_code_sleep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project_code_sleep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line_note_sleep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86292" y="1733550"/>
            <a:ext cx="874911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929192" y="2038350"/>
            <a:ext cx="806331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9062542" y="2066925"/>
            <a:ext cx="803850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8929192" y="2508250"/>
            <a:ext cx="8305209" cy="391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幫我創建一個 settings.py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裡面設定要包含：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logging 可以自己選擇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要 DEBUG 模式還是 INFO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body_sleep、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debit_credit_sleep、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account_code_sleep、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description_sleep、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dept_sleep、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amount_sleep、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project_code_sleep、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line_note_sleep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可以在設定檔設定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303933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9991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46933" y="685800"/>
            <a:ext cx="3601772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程式碼撰寫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733550"/>
            <a:ext cx="874911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038350"/>
            <a:ext cx="806331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066925"/>
            <a:ext cx="803850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提示詞（Opus 模型）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95400" y="2508250"/>
            <a:ext cx="8305209" cy="36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請參考 @stitch_pyside6_excel_processor\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將我的專案使用 PySide6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設計一個 Window 桌面應用程式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畫面可以選擇 Excel 檔案，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要可以變成抓取使用者選擇的檔案，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並且可以清除選擇檔案的按鈕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有執行按鈕，也有中斷執行的按鈕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下面有一個大文字框，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可以即時看 log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設定頁面中，讀取 settings.py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中的內容來設計頁面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044510" y="1733550"/>
            <a:ext cx="7290892" cy="7943850"/>
          </a:xfrm>
          <a:prstGeom prst="roundRect">
            <a:avLst>
              <a:gd name="adj" fmla="val 2613"/>
            </a:avLst>
          </a:prstGeom>
          <a:solidFill>
            <a:srgbClr val="1E1E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044510" y="1733550"/>
            <a:ext cx="7290892" cy="419100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15960" y="1885950"/>
            <a:ext cx="114300" cy="11430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06460" y="1885950"/>
            <a:ext cx="114300" cy="1143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96960" y="1885950"/>
            <a:ext cx="114300" cy="11430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2710" y="1847850"/>
            <a:ext cx="6281242" cy="1905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44510" y="2152650"/>
            <a:ext cx="1333500" cy="752475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39760" y="2305050"/>
            <a:ext cx="1143000" cy="349250"/>
          </a:xfrm>
          <a:prstGeom prst="roundRect">
            <a:avLst>
              <a:gd name="adj" fmla="val 16364"/>
            </a:avLst>
          </a:prstGeom>
          <a:solidFill>
            <a:srgbClr val="FF595A"/>
          </a:solidFill>
          <a:ln/>
        </p:spPr>
      </p:sp>
      <p:sp>
        <p:nvSpPr>
          <p:cNvPr id="17" name="Text 15"/>
          <p:cNvSpPr/>
          <p:nvPr/>
        </p:nvSpPr>
        <p:spPr>
          <a:xfrm>
            <a:off x="10254060" y="2390775"/>
            <a:ext cx="990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39760" y="9175750"/>
            <a:ext cx="1143000" cy="349250"/>
          </a:xfrm>
          <a:prstGeom prst="roundRect">
            <a:avLst>
              <a:gd name="adj" fmla="val 16364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54060" y="9261475"/>
            <a:ext cx="990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549460" y="2324100"/>
            <a:ext cx="5614492" cy="730250"/>
          </a:xfrm>
          <a:prstGeom prst="roundRect">
            <a:avLst>
              <a:gd name="adj" fmla="val 104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701860" y="2457450"/>
            <a:ext cx="546898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 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701860" y="2692400"/>
            <a:ext cx="5309692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49460" y="3168650"/>
            <a:ext cx="2769096" cy="304800"/>
          </a:xfrm>
          <a:prstGeom prst="roundRect">
            <a:avLst>
              <a:gd name="adj" fmla="val 18750"/>
            </a:avLst>
          </a:prstGeom>
          <a:solidFill>
            <a:srgbClr val="FF595A"/>
          </a:solidFill>
          <a:ln/>
        </p:spPr>
      </p:sp>
      <p:sp>
        <p:nvSpPr>
          <p:cNvPr id="24" name="Text 22"/>
          <p:cNvSpPr/>
          <p:nvPr/>
        </p:nvSpPr>
        <p:spPr>
          <a:xfrm>
            <a:off x="11507924" y="3168650"/>
            <a:ext cx="28521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Execute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4394756" y="3168650"/>
            <a:ext cx="2769196" cy="304800"/>
          </a:xfrm>
          <a:prstGeom prst="roundRect">
            <a:avLst>
              <a:gd name="adj" fmla="val 1875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353218" y="3168650"/>
            <a:ext cx="28522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>
                    <a:alpha val="4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Stop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1549460" y="3587750"/>
            <a:ext cx="5614492" cy="5918200"/>
          </a:xfrm>
          <a:prstGeom prst="roundRect">
            <a:avLst>
              <a:gd name="adj" fmla="val 1357"/>
            </a:avLst>
          </a:prstGeom>
          <a:solidFill>
            <a:srgbClr val="0D0D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682810" y="3702050"/>
            <a:ext cx="5516226" cy="572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A6E3A1"/>
                </a:solidFill>
                <a:highlight>
                  <a:srgbClr val="0D0D1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- [第1張/第1筆] 借貸 - 1 INFO - [第1張/第1筆] 科目 - 6214 INFO - [第1張/第1筆] 金額 - 999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FFFFFF">
                    <a:alpha val="2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303933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9991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46933" y="685800"/>
            <a:ext cx="689818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 程式碼撰寫（細節調整）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8260652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生成初版後，不斷與 AI 溝通，調整 UI 細節，直到自己滿意為止。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758281"/>
            <a:ext cx="8020050" cy="6919119"/>
          </a:xfrm>
          <a:prstGeom prst="roundRect">
            <a:avLst>
              <a:gd name="adj" fmla="val 1927"/>
            </a:avLst>
          </a:prstGeom>
          <a:solidFill>
            <a:srgbClr val="181820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986881"/>
            <a:ext cx="7711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迭代方式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19200" y="3444081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2100" y="3444081"/>
            <a:ext cx="39379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截圖 UI，貼給 Claude，說明哪裡要改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3920331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2100" y="3920331"/>
            <a:ext cx="41080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直接修改程式碼，重新執行確認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4396581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62100" y="4396581"/>
            <a:ext cx="22606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重複直到 UI 符合預期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15450" y="1733550"/>
            <a:ext cx="80200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58350" y="20383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20669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提示詞（範例調整）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58350" y="2508250"/>
            <a:ext cx="7554278" cy="3049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[UI 截圖]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請幫我調整以下細節：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頁首標題字體大小加大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Execute 按鈕顏色改為紅色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log 區塊背景改為深色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Settings 頁面中，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每個 sleep 輸入框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右邊顯示單位「秒」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選擇檔案後，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顯示完整的檔案路徑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89000"/>
            <a:ext cx="1303933" cy="3746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5675"/>
            <a:ext cx="9991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46933" y="685800"/>
            <a:ext cx="22098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更新文檔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33550"/>
            <a:ext cx="826065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請 AI 幫你生成完整的文件，讓其他人可以很快上手你的專案。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331641"/>
            <a:ext cx="8020050" cy="1136650"/>
          </a:xfrm>
          <a:prstGeom prst="roundRect">
            <a:avLst>
              <a:gd name="adj" fmla="val 10056"/>
            </a:avLst>
          </a:prstGeom>
          <a:solidFill>
            <a:srgbClr val="FFF0F0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331641"/>
            <a:ext cx="44450" cy="113665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8" name="Text 6"/>
          <p:cNvSpPr/>
          <p:nvPr/>
        </p:nvSpPr>
        <p:spPr>
          <a:xfrm>
            <a:off x="1263650" y="2560241"/>
            <a:ext cx="766546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README.md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63650" y="2896791"/>
            <a:ext cx="76654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專案介紹、安裝方法、使用說明、注意事項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601641"/>
            <a:ext cx="8020050" cy="1136650"/>
          </a:xfrm>
          <a:prstGeom prst="roundRect">
            <a:avLst>
              <a:gd name="adj" fmla="val 10056"/>
            </a:avLst>
          </a:prstGeom>
          <a:solidFill>
            <a:srgbClr val="181820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830241"/>
            <a:ext cx="7711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CLAUDE.md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19200" y="4166791"/>
            <a:ext cx="7711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更新後的工作準則，加入開發過程中發現的重要規則與注意事項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15450" y="1733550"/>
            <a:ext cx="8020050" cy="7943850"/>
          </a:xfrm>
          <a:prstGeom prst="roundRect">
            <a:avLst>
              <a:gd name="adj" fmla="val 1679"/>
            </a:avLst>
          </a:prstGeom>
          <a:solidFill>
            <a:srgbClr val="1E1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8350" y="20383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20669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658350" y="2508250"/>
            <a:ext cx="7554278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幫我更新 README.md、CLAUDE.md</a:t>
            </a:r>
            <a:endParaRPr lang="en-US" sz="142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的內容</a:t>
            </a:r>
            <a:endParaRPr lang="en-US" sz="14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5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1905000"/>
            <a:ext cx="6667500" cy="66675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478000" y="6477000"/>
            <a:ext cx="5715000" cy="5715000"/>
          </a:xfrm>
          <a:prstGeom prst="ellipse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9199" y="2538115"/>
            <a:ext cx="1269504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61599" y="2604790"/>
            <a:ext cx="964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99" kern="0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執行效益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257550" y="3395365"/>
            <a:ext cx="11772900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筆傳票 · 7 筆明細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429000" y="4751685"/>
            <a:ext cx="5124450" cy="2190750"/>
          </a:xfrm>
          <a:prstGeom prst="roundRect">
            <a:avLst>
              <a:gd name="adj" fmla="val 10435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83806" y="5170786"/>
            <a:ext cx="44148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99" kern="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人工操作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783806" y="5608936"/>
            <a:ext cx="44148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</a:t>
            </a:r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</a:t>
            </a:r>
            <a:endParaRPr lang="en-US" sz="7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0" y="5418436"/>
            <a:ext cx="419100" cy="4191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96350" y="5970886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縮短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734550" y="4783435"/>
            <a:ext cx="5124450" cy="2127250"/>
          </a:xfrm>
          <a:prstGeom prst="roundRect">
            <a:avLst>
              <a:gd name="adj" fmla="val 1074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089356" y="5202535"/>
            <a:ext cx="441483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99" kern="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VoucherAutomate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089356" y="5577185"/>
            <a:ext cx="44148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</a:t>
            </a:r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3257550" y="7361536"/>
            <a:ext cx="1177290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張數越多，節省的時間越可觀 — 而且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零失誤、不用一直盯螢幕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477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685800"/>
            <a:ext cx="540255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圖片生成與 PPT 製作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1885950"/>
            <a:ext cx="8020050" cy="7791450"/>
          </a:xfrm>
          <a:prstGeom prst="roundRect">
            <a:avLst>
              <a:gd name="adj" fmla="val 2445"/>
            </a:avLst>
          </a:prstGeom>
          <a:solidFill>
            <a:srgbClr val="181820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317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C4C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3177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828800" y="2266950"/>
            <a:ext cx="3226817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+ Canva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333500" y="2959100"/>
            <a:ext cx="7258050" cy="6337300"/>
          </a:xfrm>
          <a:prstGeom prst="roundRect">
            <a:avLst>
              <a:gd name="adj" fmla="val 2104"/>
            </a:avLst>
          </a:prstGeom>
          <a:solidFill>
            <a:srgbClr val="1E1E2E"/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" y="3263900"/>
            <a:ext cx="1108472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1809750" y="3292475"/>
            <a:ext cx="91797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676400" y="3733800"/>
            <a:ext cx="6769418" cy="1794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幫我利用 Canva 生成產品介紹圖片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產品名稱叫 VoucherAutomate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他是一款傳票入帳自動化的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桌面應用程式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只要讀取 Excel 就可以輕鬆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入帳至 ERP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圖片請生成 16:9 橫幅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315450" y="1885950"/>
            <a:ext cx="8020050" cy="7791450"/>
          </a:xfrm>
          <a:prstGeom prst="roundRect">
            <a:avLst>
              <a:gd name="adj" fmla="val 2445"/>
            </a:avLst>
          </a:prstGeom>
          <a:solidFill>
            <a:srgbClr val="FFF0F0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9150" y="2330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595A"/>
          </a:solidFill>
          <a:ln/>
        </p:spPr>
      </p:sp>
      <p:sp>
        <p:nvSpPr>
          <p:cNvPr id="14" name="Text 12"/>
          <p:cNvSpPr/>
          <p:nvPr/>
        </p:nvSpPr>
        <p:spPr>
          <a:xfrm>
            <a:off x="9671050" y="23304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04450" y="2279650"/>
            <a:ext cx="299841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Design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709150" y="2971800"/>
            <a:ext cx="7232650" cy="6311900"/>
          </a:xfrm>
          <a:prstGeom prst="roundRect">
            <a:avLst>
              <a:gd name="adj" fmla="val 2113"/>
            </a:avLst>
          </a:prstGeom>
          <a:solidFill>
            <a:srgbClr val="1E1E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2050" y="3276600"/>
            <a:ext cx="1108472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10185400" y="3305175"/>
            <a:ext cx="91797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提示詞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0052050" y="3746500"/>
            <a:ext cx="6743256" cy="2547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[貼上寫好的文件內容][PPT模板]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幫我讀取文件內容，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並且幫我利用 PPT 模板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生成一份 PPT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目標觀眾是財務會計相關人員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想學習運用 AI 來提升工作效率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請幫我用 #ff595a 這個顏色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來做整體的配色，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並且幫我生成適合的圖片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來搭配內容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477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685800"/>
            <a:ext cx="741723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復盤：AI 給的不一定是最佳解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8020050" cy="2118122"/>
          </a:xfrm>
          <a:prstGeom prst="roundRect">
            <a:avLst>
              <a:gd name="adj" fmla="val 6296"/>
            </a:avLst>
          </a:prstGeom>
          <a:solidFill>
            <a:srgbClr val="FFF7ED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09750"/>
            <a:ext cx="44450" cy="211812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301750" y="2076450"/>
            <a:ext cx="75869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241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真實案例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1750" y="2495550"/>
            <a:ext cx="7586980" cy="120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最推薦用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AutomationId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定位 UI 元件，但沒警告： </a:t>
            </a:r>
            <a:pPr algn="l" indent="0" marL="0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ERP 重啟後 AutomationId 會變動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，導致程式直接報錯。AI 訓練資料截至 2025 年初，部分技術細節可能不夠完整。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099322"/>
            <a:ext cx="8020050" cy="5578078"/>
          </a:xfrm>
          <a:prstGeom prst="roundRect">
            <a:avLst>
              <a:gd name="adj" fmla="val 2391"/>
            </a:avLst>
          </a:prstGeom>
          <a:solidFill>
            <a:srgbClr val="18182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366022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重要決策查證模式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57300" y="4804172"/>
            <a:ext cx="7632763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先說明事實與缺口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5265143"/>
            <a:ext cx="7632763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至少列 3 個風險、2 個反例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5726113"/>
            <a:ext cx="7632763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指出最脆弱的假設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7300" y="6187083"/>
            <a:ext cx="7632763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開啟 Web Search 查詢最新資料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15450" y="1809750"/>
            <a:ext cx="8020050" cy="7867650"/>
          </a:xfrm>
          <a:prstGeom prst="roundRect">
            <a:avLst>
              <a:gd name="adj" fmla="val 1695"/>
            </a:avLst>
          </a:prstGeom>
          <a:solidFill>
            <a:srgbClr val="1E1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58350" y="2114550"/>
            <a:ext cx="7334250" cy="317500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2143125"/>
            <a:ext cx="7287578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重要決策查證模式提示詞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58350" y="2584450"/>
            <a:ext cx="7554278" cy="405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使用 pywinauto 抓取 UI 元件時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用哪些資訊抓比較準確也快速？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請用「重要決策查證模式」回答。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先說明你目前掌握的事實與缺口。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只使用可驗證資料；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若資料不足，先提問，不要猜。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把內容分成：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事實、推論、假設、未知。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至少列出 3 個風險、2 個反例、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 個最脆弱假設。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若涉及時間敏感資訊，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請優先以最新且可追溯來源為準。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最後給出建議，</a:t>
            </a:r>
            <a:endParaRPr lang="en-US" sz="12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並附上你建議我如何驗證。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477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F59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685800"/>
            <a:ext cx="38458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下次想做的功能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1847850"/>
            <a:ext cx="8058150" cy="3781425"/>
          </a:xfrm>
          <a:prstGeom prst="roundRect">
            <a:avLst>
              <a:gd name="adj" fmla="val 5038"/>
            </a:avLst>
          </a:prstGeom>
          <a:ln w="190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4450" y="22098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0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2343150"/>
            <a:ext cx="26670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09800"/>
            <a:ext cx="67890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Files 功能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2057400" y="2914650"/>
            <a:ext cx="6789039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電腦當機時，可從 Log 得知執行到哪一筆，直接從中斷點繼續，不需重頭執行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9277350" y="1847850"/>
            <a:ext cx="8058150" cy="3781425"/>
          </a:xfrm>
          <a:prstGeom prst="roundRect">
            <a:avLst>
              <a:gd name="adj" fmla="val 5038"/>
            </a:avLst>
          </a:prstGeom>
          <a:ln w="19050">
            <a:solidFill>
              <a:srgbClr val="EEE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22098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0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2343150"/>
            <a:ext cx="266700" cy="266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82250" y="2209800"/>
            <a:ext cx="67890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入帳檢查功能</a:t>
            </a:r>
            <a:endParaRPr lang="en-US" sz="3300" dirty="0"/>
          </a:p>
        </p:txBody>
      </p:sp>
      <p:sp>
        <p:nvSpPr>
          <p:cNvPr id="13" name="Text 9"/>
          <p:cNvSpPr/>
          <p:nvPr/>
        </p:nvSpPr>
        <p:spPr>
          <a:xfrm>
            <a:off x="10382250" y="2914650"/>
            <a:ext cx="6789039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ERP 匯出 Excel 與原始資料比對，自動標示不一致的傳票明細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52500" y="5895975"/>
            <a:ext cx="8058150" cy="3781425"/>
          </a:xfrm>
          <a:prstGeom prst="roundRect">
            <a:avLst>
              <a:gd name="adj" fmla="val 5038"/>
            </a:avLst>
          </a:prstGeom>
          <a:ln w="19050">
            <a:solidFill>
              <a:srgbClr val="EEEE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14450" y="62579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1818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6391275"/>
            <a:ext cx="266700" cy="2667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6257925"/>
            <a:ext cx="67890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財報回推明細帳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2057400" y="6962775"/>
            <a:ext cx="6789039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用 Claude for Excel，讓 AI 分析財報數字並回推明細帳資料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9277350" y="5895975"/>
            <a:ext cx="8058150" cy="3781425"/>
          </a:xfrm>
          <a:prstGeom prst="roundRect">
            <a:avLst>
              <a:gd name="adj" fmla="val 5038"/>
            </a:avLst>
          </a:prstGeom>
          <a:ln w="19050">
            <a:solidFill>
              <a:srgbClr val="EEEE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39300" y="62579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1818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0" y="6391275"/>
            <a:ext cx="266700" cy="2667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82250" y="6257925"/>
            <a:ext cx="634980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合併報表底稿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10382250" y="6962775"/>
            <a:ext cx="6349804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B6B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使用 Claude for Excel，讓 AI 自動生成合併報表底稿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01750" y="-1428750"/>
            <a:ext cx="5715000" cy="5715000"/>
          </a:xfrm>
          <a:prstGeom prst="ellipse">
            <a:avLst/>
          </a:prstGeom>
          <a:solidFill>
            <a:srgbClr val="FF595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28750" y="6953250"/>
            <a:ext cx="4762500" cy="4762500"/>
          </a:xfrm>
          <a:prstGeom prst="ellipse">
            <a:avLst/>
          </a:prstGeom>
          <a:solidFill>
            <a:srgbClr val="FF595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F595A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0" y="2507059"/>
            <a:ext cx="1143000" cy="76200"/>
          </a:xfrm>
          <a:prstGeom prst="roundRect">
            <a:avLst>
              <a:gd name="adj" fmla="val 37500"/>
            </a:avLst>
          </a:prstGeom>
          <a:solidFill>
            <a:srgbClr val="FF595A"/>
          </a:solidFill>
          <a:ln/>
        </p:spPr>
      </p:sp>
      <p:sp>
        <p:nvSpPr>
          <p:cNvPr id="6" name="Text 4"/>
          <p:cNvSpPr/>
          <p:nvPr/>
        </p:nvSpPr>
        <p:spPr>
          <a:xfrm>
            <a:off x="3748087" y="2926159"/>
            <a:ext cx="10791825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是會計人的</a:t>
            </a:r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超級助手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219700" y="4015780"/>
            <a:ext cx="7848600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330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不需要懂程式，只需要清楚說明你的需求 用對工具，讓 AI 幫你把重複的工作自動化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72584" y="6522641"/>
            <a:ext cx="2942233" cy="590550"/>
          </a:xfrm>
          <a:prstGeom prst="roundRect">
            <a:avLst>
              <a:gd name="adj" fmla="val 16129"/>
            </a:avLst>
          </a:prstGeom>
          <a:solidFill>
            <a:srgbClr val="FF595A">
              <a:alpha val="20000"/>
            </a:srgbClr>
          </a:solidFill>
          <a:ln w="6350">
            <a:solidFill>
              <a:srgbClr val="FF595A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5300" y="6624241"/>
            <a:ext cx="263680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技術評估 → 選對工具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367217" y="6522641"/>
            <a:ext cx="2247900" cy="590550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19617" y="6617891"/>
            <a:ext cx="194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小步驟逐步實作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767517" y="6522641"/>
            <a:ext cx="2247900" cy="590550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919917" y="6617891"/>
            <a:ext cx="194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重要決策做查證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583984" y="7265591"/>
            <a:ext cx="3120033" cy="590550"/>
          </a:xfrm>
          <a:prstGeom prst="roundRect">
            <a:avLst>
              <a:gd name="adj" fmla="val 16129"/>
            </a:avLst>
          </a:prstGeom>
          <a:solidFill>
            <a:srgbClr val="FF595A">
              <a:alpha val="20000"/>
            </a:srgbClr>
          </a:solidFill>
          <a:ln w="6350">
            <a:solidFill>
              <a:srgbClr val="FF595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4033" y="7367191"/>
            <a:ext cx="281993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持續更新 CLAUDE.md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2026-04-20T19:37:34Z</dcterms:created>
  <dcterms:modified xsi:type="dcterms:W3CDTF">2026-04-20T19:37:34Z</dcterms:modified>
</cp:coreProperties>
</file>